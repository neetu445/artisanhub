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Artisan Marketplace &amp; Business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BF6EF"/>
                </a:solidFill>
                <a:latin typeface="Calibri"/>
              </a:defRPr>
            </a:pPr>
            <a:r>
              <a:t>From WhatsApp chaos to one connected workspace for India's artisans</a:t>
            </a:r>
          </a:p>
        </p:txBody>
      </p:sp>
      <p:pic>
        <p:nvPicPr>
          <p:cNvPr id="6" name="Picture 5" descr="sare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480560"/>
            <a:ext cx="1737360" cy="1325880"/>
          </a:xfrm>
          <a:prstGeom prst="rect">
            <a:avLst/>
          </a:prstGeom>
        </p:spPr>
      </p:pic>
      <p:pic>
        <p:nvPicPr>
          <p:cNvPr id="7" name="Picture 6" descr="madhuban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480560"/>
            <a:ext cx="1737360" cy="1325880"/>
          </a:xfrm>
          <a:prstGeom prst="rect">
            <a:avLst/>
          </a:prstGeom>
        </p:spPr>
      </p:pic>
      <p:pic>
        <p:nvPicPr>
          <p:cNvPr id="8" name="Picture 7" descr="dok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4480560"/>
            <a:ext cx="1737360" cy="1325880"/>
          </a:xfrm>
          <a:prstGeom prst="rect">
            <a:avLst/>
          </a:prstGeom>
        </p:spPr>
      </p:pic>
      <p:pic>
        <p:nvPicPr>
          <p:cNvPr id="9" name="Picture 8" descr="plat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480560"/>
            <a:ext cx="1737360" cy="1325880"/>
          </a:xfrm>
          <a:prstGeom prst="rect">
            <a:avLst/>
          </a:prstGeom>
        </p:spPr>
      </p:pic>
      <p:pic>
        <p:nvPicPr>
          <p:cNvPr id="10" name="Picture 9" descr="pendan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480560"/>
            <a:ext cx="1737360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F6EF"/>
                </a:solidFill>
                <a:latin typeface="Calibri"/>
              </a:defRPr>
            </a:pPr>
            <a:r>
              <a:t>Web &amp; Mobile Applications  •  Rural Innovation  •  Social Impact  • 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5A5A5A"/>
                </a:solidFill>
                <a:latin typeface="Calibri"/>
              </a:defRPr>
            </a:pPr>
            <a:r>
              <a:t>Artisans across India run their business on WhatsApp, Instagram DMs and paper notebooks.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B5532D"/>
                </a:solidFill>
                <a:latin typeface="Calibri"/>
              </a:defRPr>
            </a:pPr>
            <a:r>
              <a:t>Operational pain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Lost orders:</a:t>
            </a:r>
            <a:r>
              <a:rPr sz="1600">
                <a:solidFill>
                  <a:srgbClr val="2B2B2B"/>
                </a:solidFill>
                <a:latin typeface="Calibri"/>
              </a:rPr>
              <a:t> custom requests, deadlines and payments scattered across chats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No inventory visibility:</a:t>
            </a:r>
            <a:r>
              <a:rPr sz="1600">
                <a:solidFill>
                  <a:srgbClr val="2B2B2B"/>
                </a:solidFill>
                <a:latin typeface="Calibri"/>
              </a:rPr>
              <a:t> overselling or idle stock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Weak customer relationships:</a:t>
            </a:r>
            <a:r>
              <a:rPr sz="1600">
                <a:solidFill>
                  <a:srgbClr val="2B2B2B"/>
                </a:solidFill>
                <a:latin typeface="Calibri"/>
              </a:rPr>
              <a:t> no history, no follow-up, no repeat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B5532D"/>
                </a:solidFill>
                <a:latin typeface="Calibri"/>
              </a:defRPr>
            </a:pPr>
            <a:r>
              <a:t>Growth pain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Low discoverability:</a:t>
            </a:r>
            <a:r>
              <a:rPr sz="1600">
                <a:solidFill>
                  <a:srgbClr val="2B2B2B"/>
                </a:solidFill>
                <a:latin typeface="Calibri"/>
              </a:rPr>
              <a:t> word of mouth only; buyers can't find authentic handmade work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No business insight:</a:t>
            </a:r>
            <a:r>
              <a:rPr sz="1600">
                <a:solidFill>
                  <a:srgbClr val="2B2B2B"/>
                </a:solidFill>
                <a:latin typeface="Calibri"/>
              </a:rPr>
              <a:t> which products, seasons or customers actually earn?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2B2B"/>
                </a:solidFill>
                <a:latin typeface="Calibri"/>
              </a:rPr>
              <a:t>•  Result:</a:t>
            </a:r>
            <a:r>
              <a:rPr sz="1600">
                <a:solidFill>
                  <a:srgbClr val="2B2B2B"/>
                </a:solidFill>
                <a:latin typeface="Calibri"/>
              </a:rPr>
              <a:t> low sales, unrecognised craft, no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Solution – one platform, two sides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B5532D"/>
                </a:solidFill>
                <a:latin typeface="Calibri"/>
              </a:defRPr>
            </a:pPr>
            <a:r>
              <a:t>Artisan back-office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Digital storefront with story &amp; process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Products &amp; inventory, low-stock alerts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Order pipeline: Received → In Progress → Shipped → Delivered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Custom-order quotations with reference images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Per-order chat with customers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Sales dashboard: revenue, top products, repeat buyers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AI: photo → Hindi + English listing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B5532D"/>
                </a:solidFill>
                <a:latin typeface="Calibri"/>
              </a:defRPr>
            </a:pPr>
            <a:r>
              <a:t>Customer marketplace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Discover by craft, material, region, price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Verified artisan profiles – know who made it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Order &amp; track live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Design it your way: upload a reference, get a quote, approve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Chat directly with the maker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Hindi / English descriptions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532D"/>
                </a:solidFill>
                <a:latin typeface="Calibri"/>
              </a:defRPr>
            </a:pPr>
            <a:r>
              <a:t>One order automatically updates chat, stock and analytics — no double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Hero feature – Design it your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463040" cy="822960"/>
          </a:xfrm>
          <a:prstGeom prst="round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463040"/>
            <a:ext cx="1463040" cy="822960"/>
          </a:xfrm>
          <a:prstGeom prst="roundRect">
            <a:avLst/>
          </a:prstGeom>
          <a:solidFill>
            <a:srgbClr val="E2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Request 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463040"/>
            <a:ext cx="1463040" cy="822960"/>
          </a:xfrm>
          <a:prstGeom prst="round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Upload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63040"/>
            <a:ext cx="1463040" cy="822960"/>
          </a:xfrm>
          <a:prstGeom prst="roundRect">
            <a:avLst/>
          </a:prstGeom>
          <a:solidFill>
            <a:srgbClr val="E2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Receive quote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463040"/>
            <a:ext cx="1463040" cy="822960"/>
          </a:xfrm>
          <a:prstGeom prst="round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463040"/>
            <a:ext cx="1463040" cy="822960"/>
          </a:xfrm>
          <a:prstGeom prst="roundRect">
            <a:avLst/>
          </a:prstGeom>
          <a:solidFill>
            <a:srgbClr val="E2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0" y="1463040"/>
            <a:ext cx="1463040" cy="822960"/>
          </a:xfrm>
          <a:prstGeom prst="round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pic>
        <p:nvPicPr>
          <p:cNvPr id="14" name="Picture 13" descr="ref-kulh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840480" cy="292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26517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500">
                <a:solidFill>
                  <a:srgbClr val="2B2B2B"/>
                </a:solidFill>
                <a:latin typeface="Calibri"/>
              </a:rPr>
              <a:t>•  Customer</a:t>
            </a:r>
            <a:r>
              <a:rPr sz="1500">
                <a:solidFill>
                  <a:srgbClr val="2B2B2B"/>
                </a:solidFill>
                <a:latin typeface="Calibri"/>
              </a:rPr>
              <a:t> describes size, colour, material, deadline and attaches a photo or sketch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2B2B2B"/>
                </a:solidFill>
                <a:latin typeface="Calibri"/>
              </a:rPr>
              <a:t>•  Artisan</a:t>
            </a:r>
            <a:r>
              <a:rPr sz="1500">
                <a:solidFill>
                  <a:srgbClr val="2B2B2B"/>
                </a:solidFill>
                <a:latin typeface="Calibri"/>
              </a:rPr>
              <a:t> sees brief + reference, replies with price, timeline and notes — or declines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2B2B2B"/>
                </a:solidFill>
                <a:latin typeface="Calibri"/>
              </a:rPr>
              <a:t>•  Customer</a:t>
            </a:r>
            <a:r>
              <a:rPr sz="1500">
                <a:solidFill>
                  <a:srgbClr val="2B2B2B"/>
                </a:solidFill>
                <a:latin typeface="Calibri"/>
              </a:rPr>
              <a:t> approves before any work starts; both chat inside the order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2B2B2B"/>
                </a:solidFill>
                <a:latin typeface="Calibri"/>
              </a:rPr>
              <a:t>•  Progress</a:t>
            </a:r>
            <a:r>
              <a:rPr sz="1500">
                <a:solidFill>
                  <a:srgbClr val="2B2B2B"/>
                </a:solidFill>
                <a:latin typeface="Calibri"/>
              </a:rPr>
              <a:t> tracked step by step to delivery; revenue lands in the dashboard automatically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2B2B2B"/>
                </a:solidFill>
                <a:latin typeface="Calibri"/>
              </a:rPr>
              <a:t>•  Why it matters</a:t>
            </a:r>
            <a:r>
              <a:rPr sz="1500">
                <a:solidFill>
                  <a:srgbClr val="2B2B2B"/>
                </a:solidFill>
                <a:latin typeface="Calibri"/>
              </a:rPr>
              <a:t> no marketplace today structures bespoke work — it all happens in WhatsApp and gets lost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Generative AI – photo to listing in 5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pic>
        <p:nvPicPr>
          <p:cNvPr id="7" name="Picture 6" descr="kulh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84048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371600"/>
            <a:ext cx="6766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0876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B5532D"/>
                </a:solidFill>
                <a:latin typeface="Calibri"/>
              </a:defRPr>
            </a:pPr>
            <a:r>
              <a:t>Gemini output (real run)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Name:</a:t>
            </a:r>
            <a:r>
              <a:rPr sz="1400">
                <a:solidFill>
                  <a:srgbClr val="2B2B2B"/>
                </a:solidFill>
                <a:latin typeface="Calibri"/>
              </a:rPr>
              <a:t> Handcrafted Terracotta Clay Pot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Category / Material:</a:t>
            </a:r>
            <a:r>
              <a:rPr sz="1400">
                <a:solidFill>
                  <a:srgbClr val="2B2B2B"/>
                </a:solidFill>
                <a:latin typeface="Calibri"/>
              </a:rPr>
              <a:t> Pottery · Natural Clay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English:</a:t>
            </a:r>
            <a:r>
              <a:rPr sz="1400">
                <a:solidFill>
                  <a:srgbClr val="2B2B2B"/>
                </a:solidFill>
                <a:latin typeface="Calibri"/>
              </a:rPr>
              <a:t> Traditional terracotta pot handcrafted by skilled artisans using natural clay…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हिंदी:</a:t>
            </a:r>
            <a:r>
              <a:rPr sz="1400">
                <a:solidFill>
                  <a:srgbClr val="2B2B2B"/>
                </a:solidFill>
                <a:latin typeface="Calibri"/>
              </a:rPr>
              <a:t> यह पारंपरिक टेराकोटा बर्तन प्राकृतिक मिट्टी का उपयोग करके कुशल कारीगरों द्वारा हस्तनिर्मित है…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Tags:</a:t>
            </a:r>
            <a:r>
              <a:rPr sz="1400">
                <a:solidFill>
                  <a:srgbClr val="2B2B2B"/>
                </a:solidFill>
                <a:latin typeface="Calibri"/>
              </a:rPr>
              <a:t> terracotta, clay pot, handmade, pottery, home decor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Suggested price:</a:t>
            </a:r>
            <a:r>
              <a:rPr sz="1400">
                <a:solidFill>
                  <a:srgbClr val="2B2B2B"/>
                </a:solidFill>
                <a:latin typeface="Calibri"/>
              </a:rPr>
              <a:t> ₹450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Calibri"/>
              </a:defRPr>
            </a:pPr>
            <a:r>
              <a:t>Removes the biggest barrier for low-digital-literacy artisans: writing a listing. One photo → complete bilingual catalogue entry, editable before saving.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B5532D"/>
                </a:solidFill>
                <a:latin typeface="Calibri"/>
              </a:defRPr>
            </a:pPr>
            <a:r>
              <a:t>Stack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Frontend:</a:t>
            </a:r>
            <a:r>
              <a:rPr sz="1400">
                <a:solidFill>
                  <a:srgbClr val="2B2B2B"/>
                </a:solidFill>
                <a:latin typeface="Calibri"/>
              </a:rPr>
              <a:t> React 18 + Vite + Tailwind CSS + React Router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Backend / DB:</a:t>
            </a:r>
            <a:r>
              <a:rPr sz="1400">
                <a:solidFill>
                  <a:srgbClr val="2B2B2B"/>
                </a:solidFill>
                <a:latin typeface="Calibri"/>
              </a:rPr>
              <a:t> Supabase – PostgreSQL, 5 tables, Row Level Security, signup trigger, atomic stock RPC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Auth:</a:t>
            </a:r>
            <a:r>
              <a:rPr sz="1400">
                <a:solidFill>
                  <a:srgbClr val="2B2B2B"/>
                </a:solidFill>
                <a:latin typeface="Calibri"/>
              </a:rPr>
              <a:t> Supabase Auth, role-based (artisan / customer)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Storage:</a:t>
            </a:r>
            <a:r>
              <a:rPr sz="1400">
                <a:solidFill>
                  <a:srgbClr val="2B2B2B"/>
                </a:solidFill>
                <a:latin typeface="Calibri"/>
              </a:rPr>
              <a:t> Supabase Storage – product, reference &amp; profile images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Realtime:</a:t>
            </a:r>
            <a:r>
              <a:rPr sz="1400">
                <a:solidFill>
                  <a:srgbClr val="2B2B2B"/>
                </a:solidFill>
                <a:latin typeface="Calibri"/>
              </a:rPr>
              <a:t> Postgres change streams – quotes &amp; messages appear live across devices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AI:</a:t>
            </a:r>
            <a:r>
              <a:rPr sz="1400">
                <a:solidFill>
                  <a:srgbClr val="2B2B2B"/>
                </a:solidFill>
                <a:latin typeface="Calibri"/>
              </a:rPr>
              <a:t> Gemini API with model fallback + retry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Analytics:</a:t>
            </a:r>
            <a:r>
              <a:rPr sz="1400">
                <a:solidFill>
                  <a:srgbClr val="2B2B2B"/>
                </a:solidFill>
                <a:latin typeface="Calibri"/>
              </a:rPr>
              <a:t> Recharts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Deploy:</a:t>
            </a:r>
            <a:r>
              <a:rPr sz="1400">
                <a:solidFill>
                  <a:srgbClr val="2B2B2B"/>
                </a:solidFill>
                <a:latin typeface="Calibri"/>
              </a:rPr>
              <a:t> Vercel + Supabase – zero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5087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532D"/>
                </a:solidFill>
                <a:latin typeface="Calibri"/>
              </a:defRPr>
            </a:pPr>
            <a:r>
              <a:t>Architecture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React SPA (Vercel)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↓ supabase-js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Auth → profiles (role)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PostgreSQL: artisans · products · orders · messages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Storage: images bucket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Realtime: postgres_changes → UI refresh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↓ fetch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Gemini API: image → JSON listing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Demo mode: same UI on localStorage when no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Impact, feasibility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532D"/>
                </a:solidFill>
                <a:latin typeface="Calibri"/>
              </a:defRPr>
            </a:pPr>
            <a:r>
              <a:t>Economic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Wider reach + repeat customers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Fewer lost orders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Better prices for custom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532D"/>
                </a:solidFill>
                <a:latin typeface="Calibri"/>
              </a:defRPr>
            </a:pPr>
            <a:r>
              <a:t>Operational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Bookkeeping automated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Artisans create, not administrate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532D"/>
                </a:solidFill>
                <a:latin typeface="Calibri"/>
              </a:defRPr>
            </a:pPr>
            <a:r>
              <a:t>Social &amp; Cultural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Crafts visible beyond locality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Skills become viable livelihoods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Hindi-first, low-end phones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37160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5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508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B5532D"/>
                </a:solidFill>
                <a:latin typeface="Calibri"/>
              </a:defRPr>
            </a:pPr>
            <a:r>
              <a:t>Scalable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Any handmade sector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Clusters, SHGs, ODOP, PM Vishwakarma</a:t>
            </a:r>
          </a:p>
          <a:p>
            <a:pPr>
              <a:spcAft>
                <a:spcPts val="7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 Managed free-tier infra, no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Phase 2:</a:t>
            </a:r>
            <a:r>
              <a:rPr sz="1400">
                <a:solidFill>
                  <a:srgbClr val="2B2B2B"/>
                </a:solidFill>
                <a:latin typeface="Calibri"/>
              </a:rPr>
              <a:t> Razorpay payments · WhatsApp notifications · reviews · logistics · more regional languages · PWA offline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2B2B2B"/>
                </a:solidFill>
                <a:latin typeface="Calibri"/>
              </a:rPr>
              <a:t>•  Business model:</a:t>
            </a:r>
            <a:r>
              <a:rPr sz="1400">
                <a:solidFill>
                  <a:srgbClr val="2B2B2B"/>
                </a:solidFill>
                <a:latin typeface="Calibri"/>
              </a:rPr>
              <a:t> free listing · small subscription for analytics &amp; custom tools · low commission on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ArtisanHub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B5532D"/>
                </a:solidFill>
                <a:latin typeface="Calibri"/>
              </a:defRPr>
            </a:pPr>
            <a:r>
              <a:t>3-minute flow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Priya (customer) searches 'madhubani', opens artisan story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Custom Order → picks Rahul → uploads sketch → sends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Rahul (artisan) sees quote request → sends ₹ + days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Priya approves — appears live, no refresh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Rahul: In Progress → Shipped; chat inside order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Rahul adds product: photo → AI listing (EN + HI) → save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Dashboard: revenue, low stock, top products update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Toggle हिंदी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B5532D"/>
                </a:solidFill>
                <a:latin typeface="Calibri"/>
              </a:defRPr>
            </a:pPr>
            <a:r>
              <a:t>What's in the box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Working prototype on live Supabase backend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8 artisans · 6 states · 17 products · seeded orders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rahul@artisan.com / priya@customer.com · demo123</a:t>
            </a:r>
          </a:p>
          <a:p>
            <a:pPr>
              <a:spcAft>
                <a:spcPts val="7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 Source: /src · Schema: /supabase · Docs: 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5532D"/>
                </a:solidFill>
                <a:latin typeface="Calibri"/>
              </a:defRPr>
            </a:pPr>
            <a:r>
              <a:t>Not another Etsy — the operating system for artisans who currently run everything on WhatsApp.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